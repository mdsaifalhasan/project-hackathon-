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7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66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224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545"/>
                </a:solidFill>
                <a:latin typeface="Calibri"/>
              </a:defRPr>
            </a:pPr>
            <a:r>
              <a:rPr lang="en-US" sz="1400" b="0" i="0" u="none" strike="noStrike">
                <a:solidFill>
                  <a:srgbClr val="0B2545"/>
                </a:solidFill>
                <a:latin typeface="Calibri"/>
              </a:rPr>
              <a:t>Top Drivers of Predicted Failure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SHAP contribution</c:v>
                </c:pt>
              </c:strCache>
            </c:strRef>
          </c:tx>
          <c:spPr>
            <a:solidFill>
              <a:srgbClr val="F4A30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AEF-4B11-9C08-849DB01387E5}"/>
              </c:ext>
            </c:extLst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EF-4B11-9C08-849DB01387E5}"/>
              </c:ext>
            </c:extLst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DAEF-4B11-9C08-849DB01387E5}"/>
              </c:ext>
            </c:extLst>
          </c:dPt>
          <c:dPt>
            <c:idx val="3"/>
            <c:invertIfNegative val="0"/>
            <c:bubble3D val="0"/>
            <c:spPr>
              <a:solidFill>
                <a:srgbClr val="E553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DAEF-4B11-9C08-849DB01387E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2424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Fan Speed</c:v>
                </c:pt>
                <c:pt idx="1">
                  <c:v>Power Draw</c:v>
                </c:pt>
                <c:pt idx="2">
                  <c:v>Network Load</c:v>
                </c:pt>
                <c:pt idx="3">
                  <c:v>GPU Temperature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0.12</c:v>
                </c:pt>
                <c:pt idx="1">
                  <c:v>0.22</c:v>
                </c:pt>
                <c:pt idx="2">
                  <c:v>0.15</c:v>
                </c:pt>
                <c:pt idx="3">
                  <c:v>0.41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DAEF-4B11-9C08-849DB01387E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2424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6820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Smart Syntax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/>
        </p:spPr>
      </p:sp>
      <p:sp>
        <p:nvSpPr>
          <p:cNvPr id="5" name="Shape 3"/>
          <p:cNvSpPr/>
          <p:nvPr/>
        </p:nvSpPr>
        <p:spPr>
          <a:xfrm>
            <a:off x="1897380" y="22402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89738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Asif Khandoker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31520" y="3657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Lead, AI &amp; ML Engineer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9202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/>
        </p:spPr>
      </p:sp>
      <p:sp>
        <p:nvSpPr>
          <p:cNvPr id="10" name="Shape 8"/>
          <p:cNvSpPr/>
          <p:nvPr/>
        </p:nvSpPr>
        <p:spPr>
          <a:xfrm>
            <a:off x="5646420" y="22402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64642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80560" y="3200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Saif Al Hasan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480560" y="3657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System Developer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046720" y="1920240"/>
            <a:ext cx="3520440" cy="2286000"/>
          </a:xfrm>
          <a:prstGeom prst="roundRect">
            <a:avLst>
              <a:gd name="adj" fmla="val 4000"/>
            </a:avLst>
          </a:prstGeom>
          <a:solidFill>
            <a:srgbClr val="13315C"/>
          </a:solidFill>
          <a:ln/>
        </p:spPr>
      </p:sp>
      <p:sp>
        <p:nvSpPr>
          <p:cNvPr id="15" name="Shape 13"/>
          <p:cNvSpPr/>
          <p:nvPr/>
        </p:nvSpPr>
        <p:spPr>
          <a:xfrm>
            <a:off x="9395460" y="22402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395460" y="22402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229600" y="32004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Jarin Sadaf Khan Annafi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229600" y="365760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 &amp; Documentation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4526280"/>
            <a:ext cx="11018520" cy="1234440"/>
          </a:xfrm>
          <a:prstGeom prst="roundRect">
            <a:avLst>
              <a:gd name="adj" fmla="val 5926"/>
            </a:avLst>
          </a:prstGeom>
          <a:solidFill>
            <a:srgbClr val="F4F6F8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4709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68680" y="5029200"/>
            <a:ext cx="10424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Bilayet Hossain — Computer Vision &amp; Deep Learning, Dept. of CSE, Daffodil International University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005840" cy="91440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" y="5440680"/>
            <a:ext cx="731520" cy="1417320"/>
          </a:xfrm>
          <a:prstGeom prst="rect">
            <a:avLst/>
          </a:prstGeom>
          <a:solidFill>
            <a:srgbClr val="17406B"/>
          </a:solidFill>
          <a:ln/>
        </p:spPr>
      </p:sp>
      <p:sp>
        <p:nvSpPr>
          <p:cNvPr id="4" name="Shape 2"/>
          <p:cNvSpPr/>
          <p:nvPr/>
        </p:nvSpPr>
        <p:spPr>
          <a:xfrm>
            <a:off x="1883664" y="4937760"/>
            <a:ext cx="1188720" cy="192024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5" name="Shape 3"/>
          <p:cNvSpPr/>
          <p:nvPr/>
        </p:nvSpPr>
        <p:spPr>
          <a:xfrm>
            <a:off x="3145536" y="5943600"/>
            <a:ext cx="822960" cy="914400"/>
          </a:xfrm>
          <a:prstGeom prst="rect">
            <a:avLst/>
          </a:prstGeom>
          <a:solidFill>
            <a:srgbClr val="17406B"/>
          </a:solidFill>
          <a:ln/>
        </p:spPr>
      </p:sp>
      <p:sp>
        <p:nvSpPr>
          <p:cNvPr id="6" name="Shape 4"/>
          <p:cNvSpPr/>
          <p:nvPr/>
        </p:nvSpPr>
        <p:spPr>
          <a:xfrm>
            <a:off x="4041648" y="5440680"/>
            <a:ext cx="1371600" cy="141732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4937760"/>
            <a:ext cx="914400" cy="1920240"/>
          </a:xfrm>
          <a:prstGeom prst="rect">
            <a:avLst/>
          </a:prstGeom>
          <a:solidFill>
            <a:srgbClr val="17406B"/>
          </a:solidFill>
          <a:ln/>
        </p:spPr>
      </p:sp>
      <p:sp>
        <p:nvSpPr>
          <p:cNvPr id="8" name="Shape 6"/>
          <p:cNvSpPr/>
          <p:nvPr/>
        </p:nvSpPr>
        <p:spPr>
          <a:xfrm>
            <a:off x="6473952" y="5943600"/>
            <a:ext cx="1097280" cy="914400"/>
          </a:xfrm>
          <a:prstGeom prst="rect">
            <a:avLst/>
          </a:prstGeom>
          <a:solidFill>
            <a:srgbClr val="1331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 — OPENING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It’s 10 a.m. at Chattogram Port.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822960" y="3657600"/>
            <a:ext cx="8961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the country sleeps, the port never stops — cranes swinging through the dark, thousands of containers stacked in silent rows, ships waiting offshore for their turn to dock.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Living Machine With Thousands of Moving Parts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5778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Ships. Cranes. Yard equipment. Cooling systems. Power grids. Networks — and increasingly, AI systems making real-time decisions at the edge. When one part fails, the effect never stays isolated. It ripples.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92240" y="16916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92240" y="189280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24/7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629400" y="26243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operations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235440" y="169164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235440" y="189280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9372600" y="262432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Containers moved daily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92240" y="365760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38587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629400" y="45902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Interlinked systems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235440" y="3657600"/>
            <a:ext cx="25146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  <a:effectLst>
            <a:outerShdw blurRad="76200" dist="25400" dir="5400000" algn="bl" rotWithShape="0">
              <a:srgbClr val="1B2A38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35440" y="3858768"/>
            <a:ext cx="2514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372600" y="459028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to stall it all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E553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REALITY ON THE GROUND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Problems Every Port Engineer Knows</a:t>
            </a:r>
            <a:endParaRPr lang="en-US" sz="3200" dirty="0"/>
          </a:p>
        </p:txBody>
      </p:sp>
      <p:pic>
        <p:nvPicPr>
          <p:cNvPr id="4" name="Image 0" descr="/home/claude/icons/conges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46504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61872" y="1691640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&amp; yard congestion</a:t>
            </a:r>
            <a:endParaRPr lang="en-US" sz="1450" dirty="0"/>
          </a:p>
        </p:txBody>
      </p:sp>
      <p:pic>
        <p:nvPicPr>
          <p:cNvPr id="6" name="Image 1" descr="/home/claude/icons/wait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746504"/>
            <a:ext cx="502920" cy="5029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85432" y="1691640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vessel waiting time</a:t>
            </a:r>
            <a:endParaRPr lang="en-US" sz="1450" dirty="0"/>
          </a:p>
        </p:txBody>
      </p:sp>
      <p:pic>
        <p:nvPicPr>
          <p:cNvPr id="8" name="Image 2" descr="/home/claude/icons/breakdow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2706624"/>
            <a:ext cx="502920" cy="5029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61872" y="2651760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 &amp; equipment failure</a:t>
            </a:r>
            <a:endParaRPr lang="en-US" sz="1450" dirty="0"/>
          </a:p>
        </p:txBody>
      </p:sp>
      <p:pic>
        <p:nvPicPr>
          <p:cNvPr id="10" name="Image 3" descr="/home/claude/icons/overhea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72200" y="2706624"/>
            <a:ext cx="502920" cy="5029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885432" y="2651760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edge GPU overheating</a:t>
            </a:r>
            <a:endParaRPr lang="en-US" sz="1450" dirty="0"/>
          </a:p>
        </p:txBody>
      </p:sp>
      <p:pic>
        <p:nvPicPr>
          <p:cNvPr id="12" name="Image 4" descr="/home/claude/icons/power_f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8640" y="3666744"/>
            <a:ext cx="502920" cy="5029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261872" y="3611880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instability</a:t>
            </a:r>
            <a:endParaRPr lang="en-US" sz="1450" dirty="0"/>
          </a:p>
        </p:txBody>
      </p:sp>
      <p:pic>
        <p:nvPicPr>
          <p:cNvPr id="14" name="Image 5" descr="/home/claude/icons/network_fail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666744"/>
            <a:ext cx="502920" cy="5029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6885432" y="3611880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instability</a:t>
            </a:r>
            <a:endParaRPr lang="en-US" sz="1450" dirty="0"/>
          </a:p>
        </p:txBody>
      </p:sp>
      <p:pic>
        <p:nvPicPr>
          <p:cNvPr id="16" name="Image 6" descr="/home/claude/icons/manual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640" y="4626864"/>
            <a:ext cx="502920" cy="502920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261872" y="4572000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reactive monitoring</a:t>
            </a:r>
            <a:endParaRPr lang="en-US" sz="1450" dirty="0"/>
          </a:p>
        </p:txBody>
      </p:sp>
      <p:pic>
        <p:nvPicPr>
          <p:cNvPr id="18" name="Image 7" descr="/home/claude/icons/noexpl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626864"/>
            <a:ext cx="502920" cy="502920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6885432" y="4572000"/>
            <a:ext cx="4617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explainability behind AI</a:t>
            </a:r>
            <a:endParaRPr lang="en-US" sz="1450" dirty="0"/>
          </a:p>
        </p:txBody>
      </p:sp>
      <p:sp>
        <p:nvSpPr>
          <p:cNvPr id="20" name="Text 1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21" name="Text 1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IF, INSTEAD OF REACTING…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1097280" y="2788920"/>
            <a:ext cx="9966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…the port could see failure coming — before it happens?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38928" y="1920240"/>
            <a:ext cx="1920240" cy="1920240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 w="19050">
            <a:solidFill>
              <a:srgbClr val="1C7293"/>
            </a:solidFill>
            <a:prstDash val="solid"/>
          </a:ln>
        </p:spPr>
      </p:sp>
      <p:pic>
        <p:nvPicPr>
          <p:cNvPr id="3" name="Image 0" descr="/home/claude/icons/tw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2514600"/>
            <a:ext cx="731520" cy="731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0690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kern="0" spc="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CLUSTERMIND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1463040" y="4846320"/>
            <a:ext cx="9235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Smart Port Digital Twin &amp; Infrastructure Intelligence Platform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SENSING THE 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Continuous Telemetry, Across Every Layer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5" name="Image 0" descr="/home/claude/icons/c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48256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182880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4206240" y="18288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8" name="Image 1" descr="/home/claude/icons/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048256"/>
            <a:ext cx="566928" cy="5669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120640" y="182880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7863840" y="182880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11" name="Image 2" descr="/home/claude/icons/tem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2048256"/>
            <a:ext cx="566928" cy="56692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778240" y="182880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350" dirty="0"/>
          </a:p>
        </p:txBody>
      </p:sp>
      <p:sp>
        <p:nvSpPr>
          <p:cNvPr id="13" name="Shape 8"/>
          <p:cNvSpPr/>
          <p:nvPr/>
        </p:nvSpPr>
        <p:spPr>
          <a:xfrm>
            <a:off x="548640" y="32461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14" name="Image 3" descr="/home/claude/icons/pow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465576"/>
            <a:ext cx="566928" cy="56692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63040" y="324612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4206240" y="32461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17" name="Image 4" descr="/home/claude/icons/coolin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840" y="3465576"/>
            <a:ext cx="566928" cy="56692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120640" y="324612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Cooling / Fan Speed</a:t>
            </a:r>
            <a:endParaRPr lang="en-US" sz="1350" dirty="0"/>
          </a:p>
        </p:txBody>
      </p:sp>
      <p:sp>
        <p:nvSpPr>
          <p:cNvPr id="19" name="Shape 12"/>
          <p:cNvSpPr/>
          <p:nvPr/>
        </p:nvSpPr>
        <p:spPr>
          <a:xfrm>
            <a:off x="7863840" y="324612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20" name="Image 5" descr="/home/claude/icons/netwo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2440" y="3465576"/>
            <a:ext cx="566928" cy="566928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778240" y="324612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350" dirty="0"/>
          </a:p>
        </p:txBody>
      </p:sp>
      <p:sp>
        <p:nvSpPr>
          <p:cNvPr id="22" name="Shape 14"/>
          <p:cNvSpPr/>
          <p:nvPr/>
        </p:nvSpPr>
        <p:spPr>
          <a:xfrm>
            <a:off x="548640" y="46634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23" name="Image 6" descr="/home/claude/icons/camera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4882896"/>
            <a:ext cx="566928" cy="56692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1463040" y="466344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Cameras</a:t>
            </a:r>
            <a:endParaRPr lang="en-US" sz="1350" dirty="0"/>
          </a:p>
        </p:txBody>
      </p:sp>
      <p:sp>
        <p:nvSpPr>
          <p:cNvPr id="25" name="Shape 16"/>
          <p:cNvSpPr/>
          <p:nvPr/>
        </p:nvSpPr>
        <p:spPr>
          <a:xfrm>
            <a:off x="4206240" y="46634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26" name="Image 7" descr="/home/claude/icons/workloa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34840" y="4882896"/>
            <a:ext cx="566928" cy="566928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5120640" y="466344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Workload</a:t>
            </a:r>
            <a:endParaRPr lang="en-US" sz="1350" dirty="0"/>
          </a:p>
        </p:txBody>
      </p:sp>
      <p:sp>
        <p:nvSpPr>
          <p:cNvPr id="28" name="Shape 18"/>
          <p:cNvSpPr/>
          <p:nvPr/>
        </p:nvSpPr>
        <p:spPr>
          <a:xfrm>
            <a:off x="7863840" y="4663440"/>
            <a:ext cx="3383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29" name="Image 8" descr="/home/claude/icons/edgenod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92440" y="4882896"/>
            <a:ext cx="566928" cy="566928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8778240" y="4663440"/>
            <a:ext cx="24688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Edge Nodes</a:t>
            </a:r>
            <a:endParaRPr lang="en-US" sz="1350" dirty="0"/>
          </a:p>
        </p:txBody>
      </p:sp>
      <p:sp>
        <p:nvSpPr>
          <p:cNvPr id="31" name="Text 2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32" name="Text 2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FROM DATA TO PREDICTION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Failure Before It Happens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3315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30175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514600" y="301752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834640" y="3017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8" name="Text 6"/>
          <p:cNvSpPr/>
          <p:nvPr/>
        </p:nvSpPr>
        <p:spPr>
          <a:xfrm>
            <a:off x="2834640" y="30175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301752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5120640" y="3017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3315C"/>
          </a:solidFill>
          <a:ln/>
        </p:spPr>
      </p:sp>
      <p:sp>
        <p:nvSpPr>
          <p:cNvPr id="11" name="Text 9"/>
          <p:cNvSpPr/>
          <p:nvPr/>
        </p:nvSpPr>
        <p:spPr>
          <a:xfrm>
            <a:off x="5120640" y="30175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86600" y="301752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7406640" y="3017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406640" y="30175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372600" y="3017520"/>
            <a:ext cx="320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692640" y="3017520"/>
            <a:ext cx="1965960" cy="1188720"/>
          </a:xfrm>
          <a:prstGeom prst="roundRect">
            <a:avLst>
              <a:gd name="adj" fmla="val 6154"/>
            </a:avLst>
          </a:prstGeom>
          <a:solidFill>
            <a:srgbClr val="F4A300"/>
          </a:solidFill>
          <a:ln/>
        </p:spPr>
      </p:sp>
      <p:sp>
        <p:nvSpPr>
          <p:cNvPr id="17" name="Text 15"/>
          <p:cNvSpPr/>
          <p:nvPr/>
        </p:nvSpPr>
        <p:spPr>
          <a:xfrm>
            <a:off x="9692640" y="3017520"/>
            <a:ext cx="1965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6634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waiting for a failure and reacting, the model reads trend and drift in the data to predict failure ahead of time — the core shift from reactive monitoring to predictive intelligence.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EXPLAINABLE AI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Prediction Comes With a "Why"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(Shapley Additive Explanations) breaks down each prediction into the exact features driving it — transparent, ranked, and auditable.</a:t>
            </a:r>
            <a:endParaRPr lang="en-US" sz="1450" dirty="0"/>
          </a:p>
        </p:txBody>
      </p:sp>
      <p:pic>
        <p:nvPicPr>
          <p:cNvPr id="5" name="Image 0" descr="/home/claude/icons/sh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512064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88720" y="512064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black box. No "trust me." A clear, ranked explanation — for engineers and officials alike.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5669280" y="1691640"/>
          <a:ext cx="59436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1A1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— THE PORT FIXES ITSELF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Automatic Recovery, in Seconds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13315C"/>
          </a:solidFill>
          <a:ln w="12700">
            <a:solidFill>
              <a:srgbClr val="21A179"/>
            </a:solidFill>
            <a:prstDash val="solid"/>
          </a:ln>
        </p:spPr>
      </p:sp>
      <p:pic>
        <p:nvPicPr>
          <p:cNvPr id="5" name="Image 0" descr="/home/claude/icons/reduce_lo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300" y="2697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8368" y="352044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GPU Load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807208" y="237744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13315C"/>
          </a:solidFill>
          <a:ln w="12700">
            <a:solidFill>
              <a:srgbClr val="21A179"/>
            </a:solidFill>
            <a:prstDash val="solid"/>
          </a:ln>
        </p:spPr>
      </p:sp>
      <p:pic>
        <p:nvPicPr>
          <p:cNvPr id="8" name="Image 1" descr="/home/claude/icons/migr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868" y="269748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16936" y="352044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Migration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065776" y="237744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13315C"/>
          </a:solidFill>
          <a:ln w="12700">
            <a:solidFill>
              <a:srgbClr val="21A179"/>
            </a:solidFill>
            <a:prstDash val="solid"/>
          </a:ln>
        </p:spPr>
      </p:sp>
      <p:pic>
        <p:nvPicPr>
          <p:cNvPr id="11" name="Image 2" descr="/home/claude/icons/dyncool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74436" y="269748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75504" y="352044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Cooling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7324344" y="237744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13315C"/>
          </a:solidFill>
          <a:ln w="12700">
            <a:solidFill>
              <a:srgbClr val="21A179"/>
            </a:solidFill>
            <a:prstDash val="solid"/>
          </a:ln>
        </p:spPr>
      </p:sp>
      <p:pic>
        <p:nvPicPr>
          <p:cNvPr id="14" name="Image 3" descr="/home/claude/icons/dispat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3004" y="269748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34072" y="352044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Maintenance Dispatch</a:t>
            </a:r>
            <a:endParaRPr lang="en-US" sz="1300" dirty="0"/>
          </a:p>
        </p:txBody>
      </p:sp>
      <p:sp>
        <p:nvSpPr>
          <p:cNvPr id="16" name="Shape 10"/>
          <p:cNvSpPr/>
          <p:nvPr/>
        </p:nvSpPr>
        <p:spPr>
          <a:xfrm>
            <a:off x="9582912" y="2377440"/>
            <a:ext cx="2057400" cy="2286000"/>
          </a:xfrm>
          <a:prstGeom prst="roundRect">
            <a:avLst>
              <a:gd name="adj" fmla="val 4444"/>
            </a:avLst>
          </a:prstGeom>
          <a:solidFill>
            <a:srgbClr val="13315C"/>
          </a:solidFill>
          <a:ln w="12700">
            <a:solidFill>
              <a:srgbClr val="21A179"/>
            </a:solidFill>
            <a:prstDash val="solid"/>
          </a:ln>
        </p:spPr>
      </p:sp>
      <p:pic>
        <p:nvPicPr>
          <p:cNvPr id="17" name="Image 4" descr="/home/claude/icons/loadbalanc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91572" y="2697480"/>
            <a:ext cx="640080" cy="6400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92640" y="3520440"/>
            <a:ext cx="18379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Balancing</a:t>
            </a:r>
            <a:endParaRPr lang="en-US" sz="1300" dirty="0"/>
          </a:p>
        </p:txBody>
      </p:sp>
      <p:sp>
        <p:nvSpPr>
          <p:cNvPr id="19" name="Text 12"/>
          <p:cNvSpPr/>
          <p:nvPr/>
        </p:nvSpPr>
        <p:spPr>
          <a:xfrm>
            <a:off x="1371600" y="507492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time a human takes to read an alert, ClusterMind has often already fixed the problem.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— ONE LIVING MODEL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Entire Port, Visualized in Real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3315C"/>
          </a:solidFill>
          <a:ln/>
        </p:spPr>
      </p:sp>
      <p:sp>
        <p:nvSpPr>
          <p:cNvPr id="5" name="Shape 3"/>
          <p:cNvSpPr/>
          <p:nvPr/>
        </p:nvSpPr>
        <p:spPr>
          <a:xfrm>
            <a:off x="2807208" y="1993392"/>
            <a:ext cx="164592" cy="164592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Berths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319272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3315C"/>
          </a:solidFill>
          <a:ln/>
        </p:spPr>
      </p:sp>
      <p:sp>
        <p:nvSpPr>
          <p:cNvPr id="8" name="Shape 6"/>
          <p:cNvSpPr/>
          <p:nvPr/>
        </p:nvSpPr>
        <p:spPr>
          <a:xfrm>
            <a:off x="5577840" y="1993392"/>
            <a:ext cx="164592" cy="164592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9" name="Text 7"/>
          <p:cNvSpPr/>
          <p:nvPr/>
        </p:nvSpPr>
        <p:spPr>
          <a:xfrm>
            <a:off x="3502152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89904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3315C"/>
          </a:solidFill>
          <a:ln/>
        </p:spPr>
      </p:sp>
      <p:sp>
        <p:nvSpPr>
          <p:cNvPr id="11" name="Shape 9"/>
          <p:cNvSpPr/>
          <p:nvPr/>
        </p:nvSpPr>
        <p:spPr>
          <a:xfrm>
            <a:off x="8348472" y="1993392"/>
            <a:ext cx="164592" cy="164592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12" name="Text 10"/>
          <p:cNvSpPr/>
          <p:nvPr/>
        </p:nvSpPr>
        <p:spPr>
          <a:xfrm>
            <a:off x="6272784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Zones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860536" y="1828800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3315C"/>
          </a:solidFill>
          <a:ln/>
        </p:spPr>
      </p:sp>
      <p:sp>
        <p:nvSpPr>
          <p:cNvPr id="14" name="Shape 12"/>
          <p:cNvSpPr/>
          <p:nvPr/>
        </p:nvSpPr>
        <p:spPr>
          <a:xfrm>
            <a:off x="11119104" y="1993392"/>
            <a:ext cx="164592" cy="164592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5" name="Text 13"/>
          <p:cNvSpPr/>
          <p:nvPr/>
        </p:nvSpPr>
        <p:spPr>
          <a:xfrm>
            <a:off x="9043416" y="297180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Lanes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730752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3315C"/>
          </a:solidFill>
          <a:ln/>
        </p:spPr>
      </p:sp>
      <p:sp>
        <p:nvSpPr>
          <p:cNvPr id="17" name="Shape 15"/>
          <p:cNvSpPr/>
          <p:nvPr/>
        </p:nvSpPr>
        <p:spPr>
          <a:xfrm>
            <a:off x="2807208" y="3895344"/>
            <a:ext cx="164592" cy="164592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737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319272" y="3730752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3315C"/>
          </a:solidFill>
          <a:ln/>
        </p:spPr>
      </p:sp>
      <p:sp>
        <p:nvSpPr>
          <p:cNvPr id="20" name="Shape 18"/>
          <p:cNvSpPr/>
          <p:nvPr/>
        </p:nvSpPr>
        <p:spPr>
          <a:xfrm>
            <a:off x="5577840" y="3895344"/>
            <a:ext cx="164592" cy="164592"/>
          </a:xfrm>
          <a:prstGeom prst="ellipse">
            <a:avLst/>
          </a:prstGeom>
          <a:solidFill>
            <a:srgbClr val="E5533C"/>
          </a:solidFill>
          <a:ln/>
        </p:spPr>
      </p:sp>
      <p:sp>
        <p:nvSpPr>
          <p:cNvPr id="21" name="Text 19"/>
          <p:cNvSpPr/>
          <p:nvPr/>
        </p:nvSpPr>
        <p:spPr>
          <a:xfrm>
            <a:off x="3502152" y="48737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Warehouses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89904" y="3730752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3315C"/>
          </a:solidFill>
          <a:ln/>
        </p:spPr>
      </p:sp>
      <p:sp>
        <p:nvSpPr>
          <p:cNvPr id="23" name="Shape 21"/>
          <p:cNvSpPr/>
          <p:nvPr/>
        </p:nvSpPr>
        <p:spPr>
          <a:xfrm>
            <a:off x="8348472" y="3895344"/>
            <a:ext cx="164592" cy="164592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24" name="Text 22"/>
          <p:cNvSpPr/>
          <p:nvPr/>
        </p:nvSpPr>
        <p:spPr>
          <a:xfrm>
            <a:off x="6272784" y="48737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Cranes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860536" y="3730752"/>
            <a:ext cx="2606040" cy="1737360"/>
          </a:xfrm>
          <a:prstGeom prst="roundRect">
            <a:avLst>
              <a:gd name="adj" fmla="val 4211"/>
            </a:avLst>
          </a:prstGeom>
          <a:solidFill>
            <a:srgbClr val="13315C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19104" y="3895344"/>
            <a:ext cx="164592" cy="164592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27" name="Text 25"/>
          <p:cNvSpPr/>
          <p:nvPr/>
        </p:nvSpPr>
        <p:spPr>
          <a:xfrm>
            <a:off x="9043416" y="4873752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Nodes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— FOLLOWING EVERY CONTAINER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Continuous, Predictable Cargo Flow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79476" y="301752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5" name="Image 0" descr="/home/claude/icons/shi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" y="3273552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2628" y="397764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Arrival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071116" y="3017520"/>
            <a:ext cx="256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327148" y="301752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9" name="Image 1" descr="/home/claude/icons/unlo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648" y="327355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400300" y="397764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Unloading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4018788" y="3017520"/>
            <a:ext cx="256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4274820" y="301752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13" name="Image 2" descr="/home/claude/icons/y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3273552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347972" y="397764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 Storage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5966460" y="3017520"/>
            <a:ext cx="256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222492" y="301752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17" name="Image 3" descr="/home/claude/icons/custom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93992" y="3273552"/>
            <a:ext cx="548640" cy="5486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95644" y="397764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Customs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7914132" y="3017520"/>
            <a:ext cx="256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0" name="Shape 14"/>
          <p:cNvSpPr/>
          <p:nvPr/>
        </p:nvSpPr>
        <p:spPr>
          <a:xfrm>
            <a:off x="8170164" y="301752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21" name="Image 4" descr="/home/claude/icons/truc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41664" y="3273552"/>
            <a:ext cx="548640" cy="5486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243316" y="397764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 Assignment</a:t>
            </a:r>
            <a:endParaRPr lang="en-US" sz="1150" dirty="0"/>
          </a:p>
        </p:txBody>
      </p:sp>
      <p:sp>
        <p:nvSpPr>
          <p:cNvPr id="23" name="Text 16"/>
          <p:cNvSpPr/>
          <p:nvPr/>
        </p:nvSpPr>
        <p:spPr>
          <a:xfrm>
            <a:off x="9861804" y="3017520"/>
            <a:ext cx="25603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4" name="Shape 17"/>
          <p:cNvSpPr/>
          <p:nvPr/>
        </p:nvSpPr>
        <p:spPr>
          <a:xfrm>
            <a:off x="10117836" y="3017520"/>
            <a:ext cx="1691640" cy="182880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25" name="Image 5" descr="/home/claude/icons/gateou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89336" y="3273552"/>
            <a:ext cx="548640" cy="54864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190988" y="3977640"/>
            <a:ext cx="15453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Out</a:t>
            </a:r>
            <a:endParaRPr lang="en-US" sz="1150" dirty="0"/>
          </a:p>
        </p:txBody>
      </p:sp>
      <p:sp>
        <p:nvSpPr>
          <p:cNvPr id="27" name="Text 19"/>
          <p:cNvSpPr/>
          <p:nvPr/>
        </p:nvSpPr>
        <p:spPr>
          <a:xfrm>
            <a:off x="548640" y="53035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i="1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 prediction and delay monitoring run at every stage — flags emerge as delays develop, not after a shipment is already late.</a:t>
            </a:r>
            <a:endParaRPr lang="en-US" sz="1350" dirty="0"/>
          </a:p>
        </p:txBody>
      </p:sp>
      <p:sp>
        <p:nvSpPr>
          <p:cNvPr id="28" name="Text 20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 — WATCH IT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Scenario: Node-02 at 92°C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93392"/>
            <a:ext cx="384048" cy="384048"/>
          </a:xfrm>
          <a:prstGeom prst="ellipse">
            <a:avLst/>
          </a:prstGeom>
          <a:solidFill>
            <a:srgbClr val="E553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93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43000" y="19202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spikes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389120" y="1920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Node-02 reaches 92°C — imminent failure predicted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3044952"/>
            <a:ext cx="384048" cy="384048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44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971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explains why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389120" y="29718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GPU temp + dropping fan speed flagged as drivers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4096512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965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43000" y="40233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Self-healing fires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389120" y="40233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Workload migrates off Node-02; cooling ramps up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5148072"/>
            <a:ext cx="384048" cy="384048"/>
          </a:xfrm>
          <a:prstGeom prst="ellipse">
            <a:avLst/>
          </a:prstGeom>
          <a:solidFill>
            <a:srgbClr val="21A17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148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43000" y="507492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recovers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389120" y="5074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crane stops. No delay. No emergency dispatch.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 — ASK CLUSTERMIND ANYTHING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Copilot for Every Decision-Maker</a:t>
            </a:r>
            <a:endParaRPr lang="en-US" sz="3200" dirty="0"/>
          </a:p>
        </p:txBody>
      </p:sp>
      <p:pic>
        <p:nvPicPr>
          <p:cNvPr id="4" name="Image 0" descr="/home/claude/icons/copi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373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73736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Gemini, the AI Copilot turns raw data into clear, human-readable answers and recommendations.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548640" y="3200400"/>
            <a:ext cx="5486400" cy="731520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32004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did Node-02 fail?”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160520"/>
            <a:ext cx="5486400" cy="731520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" y="4160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“Why is Yard B congested?”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5120640"/>
            <a:ext cx="5486400" cy="731520"/>
          </a:xfrm>
          <a:prstGeom prst="roundRect">
            <a:avLst>
              <a:gd name="adj" fmla="val 50000"/>
            </a:avLst>
          </a:prstGeom>
          <a:solidFill>
            <a:srgbClr val="13315C"/>
          </a:solidFill>
          <a:ln/>
        </p:spPr>
      </p:sp>
      <p:sp>
        <p:nvSpPr>
          <p:cNvPr id="11" name="Text 8"/>
          <p:cNvSpPr/>
          <p:nvPr/>
        </p:nvSpPr>
        <p:spPr>
          <a:xfrm>
            <a:off x="822960" y="512064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should we do now?”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92240" y="1737360"/>
            <a:ext cx="5120640" cy="4206240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76656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RESPONSE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766560" y="233172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Node-02 failed due to a sustained GPU temperature rise combined with reduced fan speed. Workload was migrated automatically and cooling increased — no container delay resulted. Recommendation: schedule a fan inspection during the next maintenance window.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 — SIMULATE THE DISASTER FIRST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What-If Analysis, Before the Crisis Hits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F4A300"/>
            </a:solidFill>
            <a:prstDash val="solid"/>
          </a:ln>
        </p:spPr>
      </p:sp>
      <p:pic>
        <p:nvPicPr>
          <p:cNvPr id="5" name="Image 0" descr="/home/claude/icons/ou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246888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32461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Outage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2807208" y="219456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F4A300"/>
            </a:solidFill>
            <a:prstDash val="solid"/>
          </a:ln>
        </p:spPr>
      </p:sp>
      <p:pic>
        <p:nvPicPr>
          <p:cNvPr id="8" name="Image 1" descr="/home/claude/icons/ra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728" y="2468880"/>
            <a:ext cx="594360" cy="594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98648" y="32461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Rainfall</a:t>
            </a:r>
            <a:endParaRPr lang="en-US" sz="1250" dirty="0"/>
          </a:p>
        </p:txBody>
      </p:sp>
      <p:sp>
        <p:nvSpPr>
          <p:cNvPr id="10" name="Shape 6"/>
          <p:cNvSpPr/>
          <p:nvPr/>
        </p:nvSpPr>
        <p:spPr>
          <a:xfrm>
            <a:off x="5065776" y="219456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F4A300"/>
            </a:solidFill>
            <a:prstDash val="solid"/>
          </a:ln>
        </p:spPr>
      </p:sp>
      <p:pic>
        <p:nvPicPr>
          <p:cNvPr id="11" name="Image 2" descr="/home/claude/icons/gpufai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7296" y="2468880"/>
            <a:ext cx="594360" cy="594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57216" y="32461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Failure</a:t>
            </a:r>
            <a:endParaRPr lang="en-US" sz="1250" dirty="0"/>
          </a:p>
        </p:txBody>
      </p:sp>
      <p:sp>
        <p:nvSpPr>
          <p:cNvPr id="13" name="Shape 8"/>
          <p:cNvSpPr/>
          <p:nvPr/>
        </p:nvSpPr>
        <p:spPr>
          <a:xfrm>
            <a:off x="7324344" y="219456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F4A300"/>
            </a:solidFill>
            <a:prstDash val="solid"/>
          </a:ln>
        </p:spPr>
      </p:sp>
      <p:pic>
        <p:nvPicPr>
          <p:cNvPr id="14" name="Image 3" descr="/home/claude/icons/sur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55864" y="2468880"/>
            <a:ext cx="594360" cy="594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415784" y="32461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 Surge</a:t>
            </a:r>
            <a:endParaRPr lang="en-US" sz="1250" dirty="0"/>
          </a:p>
        </p:txBody>
      </p:sp>
      <p:sp>
        <p:nvSpPr>
          <p:cNvPr id="16" name="Shape 10"/>
          <p:cNvSpPr/>
          <p:nvPr/>
        </p:nvSpPr>
        <p:spPr>
          <a:xfrm>
            <a:off x="9582912" y="2194560"/>
            <a:ext cx="2057400" cy="21488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5875">
            <a:solidFill>
              <a:srgbClr val="F4A300"/>
            </a:solidFill>
            <a:prstDash val="solid"/>
          </a:ln>
        </p:spPr>
      </p:sp>
      <p:pic>
        <p:nvPicPr>
          <p:cNvPr id="17" name="Image 4" descr="/home/claude/icons/netfail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14432" y="2468880"/>
            <a:ext cx="594360" cy="5943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74352" y="324612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242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Failure</a:t>
            </a:r>
            <a:endParaRPr lang="en-US" sz="1250" dirty="0"/>
          </a:p>
        </p:txBody>
      </p:sp>
      <p:sp>
        <p:nvSpPr>
          <p:cNvPr id="19" name="Text 12"/>
          <p:cNvSpPr/>
          <p:nvPr/>
        </p:nvSpPr>
        <p:spPr>
          <a:xfrm>
            <a:off x="1097280" y="475488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war-game each scenario against the live digital twin, seeing projected impact before it ever happens — and preparing accordingly.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21" name="Text 14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 — WHAT THIS MEANS FOR THE 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Measurable Impact, End to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3315C"/>
          </a:solidFill>
          <a:ln/>
        </p:spPr>
      </p:sp>
      <p:pic>
        <p:nvPicPr>
          <p:cNvPr id="5" name="Image 0" descr="/home/claude/icons/redu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659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65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60120" y="2651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Downtime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960120" y="32186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Operational Cost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960120" y="37856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Container Delay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960120" y="43525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Energy Consumption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960120" y="491947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  Financial Loss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172200" y="173736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1C7293"/>
          </a:solidFill>
          <a:ln/>
        </p:spPr>
      </p:sp>
      <p:pic>
        <p:nvPicPr>
          <p:cNvPr id="13" name="Image 1" descr="/home/claude/icons/improv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96596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1965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83680" y="26517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Infrastructure Health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6583680" y="3218688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Port Throughput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6583680" y="3785616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AI Reliability</a:t>
            </a:r>
            <a:endParaRPr lang="en-US" sz="1450" dirty="0"/>
          </a:p>
        </p:txBody>
      </p:sp>
      <p:sp>
        <p:nvSpPr>
          <p:cNvPr id="18" name="Text 14"/>
          <p:cNvSpPr/>
          <p:nvPr/>
        </p:nvSpPr>
        <p:spPr>
          <a:xfrm>
            <a:off x="6583680" y="4352544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Decision-Making Speed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 — A MEMORY FOR THE WHOLE PORT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B2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&amp; Audit Logs, Automatically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5" name="Image 0" descr="/home/claude/icons/repor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1945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Reports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Management-ready summaries generated without manual work.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297680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9" name="Image 1" descr="/home/claude/icons/aud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194560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4572000" y="34290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prediction, explanation, and action is logged.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46720" y="192024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8"/>
            </a:solidFill>
            <a:prstDash val="solid"/>
          </a:ln>
        </p:spPr>
      </p:sp>
      <p:pic>
        <p:nvPicPr>
          <p:cNvPr id="13" name="Image 2" descr="/home/claude/icons/tea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194560"/>
            <a:ext cx="548640" cy="5486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21040" y="292608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2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Tracking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8321040" y="34290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incidents inform how future ones are avoided.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E7F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MONITORING DASHBOARD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Decision Intelligence Platform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62356" y="3383280"/>
            <a:ext cx="1691640" cy="685800"/>
          </a:xfrm>
          <a:prstGeom prst="roundRect">
            <a:avLst>
              <a:gd name="adj" fmla="val 50667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2356" y="3383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36876" y="3383280"/>
            <a:ext cx="1691640" cy="685800"/>
          </a:xfrm>
          <a:prstGeom prst="roundRect">
            <a:avLst>
              <a:gd name="adj" fmla="val 50667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36876" y="3383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11396" y="3383280"/>
            <a:ext cx="1691640" cy="685800"/>
          </a:xfrm>
          <a:prstGeom prst="roundRect">
            <a:avLst>
              <a:gd name="adj" fmla="val 50667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11396" y="3383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85916" y="3383280"/>
            <a:ext cx="1691640" cy="685800"/>
          </a:xfrm>
          <a:prstGeom prst="roundRect">
            <a:avLst>
              <a:gd name="adj" fmla="val 50667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85916" y="3383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060436" y="3383280"/>
            <a:ext cx="1691640" cy="685800"/>
          </a:xfrm>
          <a:prstGeom prst="roundRect">
            <a:avLst>
              <a:gd name="adj" fmla="val 50667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0436" y="3383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934956" y="3383280"/>
            <a:ext cx="1691640" cy="685800"/>
          </a:xfrm>
          <a:prstGeom prst="roundRect">
            <a:avLst>
              <a:gd name="adj" fmla="val 50667"/>
            </a:avLst>
          </a:prstGeom>
          <a:solidFill>
            <a:srgbClr val="13315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934956" y="3383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463040" y="4480560"/>
            <a:ext cx="9235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turns a port from a place that reacts to failure into a place that sees it coming.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CLUSTERMIND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Ports don’t have to wait for failure.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520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They can see it coming.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651052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CLUSTERMIND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47120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5000"/>
    </mc:Choice>
    <mc:Fallback>
      <p:transition spd="slow" advClick="0" advTm="5000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559</TotalTime>
  <Words>911</Words>
  <Application>Microsoft Macintosh PowerPoint</Application>
  <PresentationFormat>Widescreen</PresentationFormat>
  <Paragraphs>227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asifkhandoker.media@gmail.com</cp:lastModifiedBy>
  <cp:revision>3</cp:revision>
  <dcterms:created xsi:type="dcterms:W3CDTF">2026-07-24T20:08:00Z</dcterms:created>
  <dcterms:modified xsi:type="dcterms:W3CDTF">2026-07-25T05:47:37Z</dcterms:modified>
</cp:coreProperties>
</file>